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DC6A9"/>
                </a:solidFill>
                <a:latin typeface="Aptos"/>
              </a:rPr>
              <a:t>PLATEFORME ÉDUCATIVE IVOIRIENNE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60350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EduLab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53949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FE9"/>
                </a:solidFill>
                <a:latin typeface="Aptos"/>
              </a:rPr>
              <a:t>Un accompagnement pédagogique personnalisé, structuré et accessible.</a:t>
            </a:r>
          </a:p>
        </p:txBody>
      </p:sp>
      <p:pic>
        <p:nvPicPr>
          <p:cNvPr id="5" name="Picture 4" descr="edulab-dashboard-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685800"/>
            <a:ext cx="5212080" cy="347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08076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DC6A9"/>
                </a:solidFill>
                <a:latin typeface="Aptos"/>
              </a:rPr>
              <a:t>Présentation de la solution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75C44"/>
                </a:solidFill>
                <a:latin typeface="Aptos"/>
              </a:rPr>
              <a:t>EDULAB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21C"/>
                </a:solidFill>
                <a:latin typeface="Aptos"/>
              </a:rPr>
              <a:t>Le défi : accompagner chaque élève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736D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21C"/>
                </a:solidFill>
                <a:latin typeface="Aptos"/>
              </a:defRPr>
            </a:pPr>
            <a:r>
              <a:t>•  L’accompagnement individualisé reste difficile à obtenir hors de la classe.</a:t>
            </a:r>
          </a:p>
          <a:p>
            <a:pPr>
              <a:spcAft>
                <a:spcPts val="1300"/>
              </a:spcAft>
              <a:defRPr sz="2000">
                <a:solidFill>
                  <a:srgbClr val="14221C"/>
                </a:solidFill>
                <a:latin typeface="Aptos"/>
              </a:defRPr>
            </a:pPr>
            <a:r>
              <a:t>•  Les ressources disponibles sont dispersées et de qualité inégale.</a:t>
            </a:r>
          </a:p>
          <a:p>
            <a:pPr>
              <a:spcAft>
                <a:spcPts val="1300"/>
              </a:spcAft>
              <a:defRPr sz="2000">
                <a:solidFill>
                  <a:srgbClr val="14221C"/>
                </a:solidFill>
                <a:latin typeface="Aptos"/>
              </a:defRPr>
            </a:pPr>
            <a:r>
              <a:t>•  Les difficultés sont souvent détectées trop tard.</a:t>
            </a:r>
          </a:p>
          <a:p>
            <a:pPr>
              <a:spcAft>
                <a:spcPts val="1300"/>
              </a:spcAft>
              <a:defRPr sz="2000">
                <a:solidFill>
                  <a:srgbClr val="14221C"/>
                </a:solidFill>
                <a:latin typeface="Aptos"/>
              </a:defRPr>
            </a:pPr>
            <a:r>
              <a:t>•  Les élèves ont besoin de pratiquer, expérimenter et comprendre leurs erreurs.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417320"/>
            <a:ext cx="2194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60020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97836"/>
                </a:solidFill>
                <a:latin typeface="Aptos"/>
              </a:rPr>
              <a:t>17,2 %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011680"/>
            <a:ext cx="173736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des élèves au niveau suffisant en mathématiques dans l’évaluation 2019 citée par la Banque mondiale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417320"/>
            <a:ext cx="2194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60020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1 800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011680"/>
            <a:ext cx="173736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enseignants scientifiques retenus après le recrutement exceptionnel de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703320"/>
            <a:ext cx="4617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4221C"/>
                </a:solidFill>
                <a:latin typeface="Aptos"/>
              </a:rPr>
              <a:t>Comment renforcer l’accompagnement sans remplacer l’enseignant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75C44"/>
                </a:solidFill>
                <a:latin typeface="Aptos"/>
              </a:rPr>
              <a:t>EDULAB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21C"/>
                </a:solidFill>
                <a:latin typeface="Aptos"/>
              </a:rPr>
              <a:t>La solution : une classe numérique intégrée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736D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Cours structurés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7180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Sommaires, séquences et vérifications.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0020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97836"/>
                </a:solidFill>
                <a:latin typeface="Aptos"/>
              </a:rPr>
              <a:t>Professeur EduLab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11680"/>
            <a:ext cx="297180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Questions, explications et tableau.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0020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Entraînement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11680"/>
            <a:ext cx="297180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Devoirs, exercices et examens.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97836"/>
                </a:solidFill>
                <a:latin typeface="Aptos"/>
              </a:rPr>
              <a:t>Laboratoire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297180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Simulations et démarche scientifique.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74904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Suivi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160520"/>
            <a:ext cx="297180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Activités, maîtrise et priorités.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74904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97836"/>
                </a:solidFill>
                <a:latin typeface="Aptos"/>
              </a:rPr>
              <a:t>Voix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160520"/>
            <a:ext cx="297180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Questions et réponses vocales.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75C44"/>
                </a:solidFill>
                <a:latin typeface="Aptos"/>
              </a:rPr>
              <a:t>EDULAB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21C"/>
                </a:solidFill>
                <a:latin typeface="Aptos"/>
              </a:rPr>
              <a:t>Une expérience centrée sur l’apprentissage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736D"/>
                </a:solidFill>
                <a:latin typeface="Aptos"/>
              </a:rPr>
              <a:t>04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685800" cy="685800"/>
          </a:xfrm>
          <a:prstGeom prst="ellipse">
            <a:avLst/>
          </a:prstGeom>
          <a:solidFill>
            <a:srgbClr val="175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21C"/>
                </a:solidFill>
                <a:latin typeface="Aptos"/>
              </a:rPr>
              <a:t>Se connecter et choisir son niveau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9202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97836"/>
                </a:solidFill>
                <a:latin typeface="Aptos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1828800"/>
            <a:ext cx="685800" cy="685800"/>
          </a:xfrm>
          <a:prstGeom prst="ellipse">
            <a:avLst/>
          </a:prstGeom>
          <a:solidFill>
            <a:srgbClr val="175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43200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21C"/>
                </a:solidFill>
                <a:latin typeface="Aptos"/>
              </a:rPr>
              <a:t>Apprendre ou poser une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9202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97836"/>
                </a:solidFill>
                <a:latin typeface="Aptos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446520" y="1828800"/>
            <a:ext cx="685800" cy="685800"/>
          </a:xfrm>
          <a:prstGeom prst="ellipse">
            <a:avLst/>
          </a:prstGeom>
          <a:solidFill>
            <a:srgbClr val="175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743200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21C"/>
                </a:solidFill>
                <a:latin typeface="Aptos"/>
              </a:rPr>
              <a:t>S’entraîner et expérimenter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9202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97836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0" y="1828800"/>
            <a:ext cx="685800" cy="685800"/>
          </a:xfrm>
          <a:prstGeom prst="ellipse">
            <a:avLst/>
          </a:prstGeom>
          <a:solidFill>
            <a:srgbClr val="175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8288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743200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21C"/>
                </a:solidFill>
                <a:latin typeface="Aptos"/>
              </a:rPr>
              <a:t>Recevoir une recommandation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75C44"/>
                </a:solidFill>
                <a:latin typeface="Aptos"/>
              </a:rPr>
              <a:t>EDULAB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21C"/>
                </a:solidFill>
                <a:latin typeface="Aptos"/>
              </a:rPr>
              <a:t>Architecture IA : rechercher avant de répondre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736D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50876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Texte ou voix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2402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97836"/>
                </a:solidFill>
                <a:latin typeface="Apto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011680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Contexte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39" y="2423160"/>
            <a:ext cx="150876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Cours actif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2402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97836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182880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2011680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Recherche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423160"/>
            <a:ext cx="150876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RAG local + 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402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97836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82880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011680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97836"/>
                </a:solidFill>
                <a:latin typeface="Aptos"/>
              </a:rPr>
              <a:t>Raisonnement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423160"/>
            <a:ext cx="150876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Moteur 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2402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D97836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82880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011680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97836"/>
                </a:solidFill>
                <a:latin typeface="Aptos"/>
              </a:rPr>
              <a:t>Restitution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423160"/>
            <a:ext cx="150876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Tableau + voix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77639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66736D"/>
                </a:solidFill>
                <a:latin typeface="Aptos"/>
              </a:rPr>
              <a:t>Ordre de confiance : documents validés → ressources éducatives autorisées → résultats web signalés → refus si les preuves sont insuffisantes.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75C44"/>
                </a:solidFill>
                <a:latin typeface="Aptos"/>
              </a:rPr>
              <a:t>EDULAB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21C"/>
                </a:solidFill>
                <a:latin typeface="Aptos"/>
              </a:rPr>
              <a:t>Technologies et modèles utilisés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736D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09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Next.js · React · 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709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FastAPI · API Next.js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39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Données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28999"/>
            <a:ext cx="4709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Supabase · 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34639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Recherche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28999"/>
            <a:ext cx="4709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TF-IDF · MiniLM · FAISS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52628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97836"/>
                </a:solidFill>
                <a:latin typeface="Aptos"/>
              </a:rPr>
              <a:t>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37760"/>
            <a:ext cx="4709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OpenAI · Gemini · Qwen LoRA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343400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52628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97836"/>
                </a:solidFill>
                <a:latin typeface="Aptos"/>
              </a:rPr>
              <a:t>Voix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937760"/>
            <a:ext cx="4709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STT · TTS · secours navigateur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75C44"/>
                </a:solidFill>
                <a:latin typeface="Aptos"/>
              </a:rPr>
              <a:t>EDULAB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21C"/>
                </a:solidFill>
                <a:latin typeface="Aptos"/>
              </a:rPr>
              <a:t>Données et résultats : ce qui est réellement mesuré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736D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369 exemples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2608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252 entraînement
63 validation
54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97836"/>
                </a:solidFill>
                <a:latin typeface="Aptos"/>
              </a:rPr>
              <a:t>RAG Recall@3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92608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83,3 %
Test interne sur 6 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0020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RAG MRR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011680"/>
            <a:ext cx="292608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0,833
Filtres respectés : 100 %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4221C"/>
                </a:solidFill>
                <a:latin typeface="Aptos"/>
              </a:rPr>
              <a:t>Limite assumée : le modèle local actuel est une preuve technique. La validation scientifique humaine et un jeu de test plus large restent nécessaires.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75C44"/>
                </a:solidFill>
                <a:latin typeface="Aptos"/>
              </a:rPr>
              <a:t>EDULAB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21C"/>
                </a:solidFill>
                <a:latin typeface="Aptos"/>
              </a:rPr>
              <a:t>Démonstration de la plateforme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736D"/>
                </a:solidFill>
                <a:latin typeface="Aptos"/>
              </a:rPr>
              <a:t>08</a:t>
            </a:r>
          </a:p>
        </p:txBody>
      </p:sp>
      <p:pic>
        <p:nvPicPr>
          <p:cNvPr id="5" name="Picture 4" descr="edulab-ai-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623560" cy="42176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5087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4221C"/>
                </a:solidFill>
                <a:latin typeface="Aptos"/>
              </a:defRPr>
            </a:pPr>
            <a:r>
              <a:t>•  Connexion et personnalisation</a:t>
            </a:r>
          </a:p>
          <a:p>
            <a:pPr>
              <a:spcAft>
                <a:spcPts val="1300"/>
              </a:spcAft>
              <a:defRPr sz="1800">
                <a:solidFill>
                  <a:srgbClr val="14221C"/>
                </a:solidFill>
                <a:latin typeface="Aptos"/>
              </a:defRPr>
            </a:pPr>
            <a:r>
              <a:t>•  Tableau de bord et navigation</a:t>
            </a:r>
          </a:p>
          <a:p>
            <a:pPr>
              <a:spcAft>
                <a:spcPts val="1300"/>
              </a:spcAft>
              <a:defRPr sz="1800">
                <a:solidFill>
                  <a:srgbClr val="14221C"/>
                </a:solidFill>
                <a:latin typeface="Aptos"/>
              </a:defRPr>
            </a:pPr>
            <a:r>
              <a:t>•  Question au professeur</a:t>
            </a:r>
          </a:p>
          <a:p>
            <a:pPr>
              <a:spcAft>
                <a:spcPts val="1300"/>
              </a:spcAft>
              <a:defRPr sz="1800">
                <a:solidFill>
                  <a:srgbClr val="14221C"/>
                </a:solidFill>
                <a:latin typeface="Aptos"/>
              </a:defRPr>
            </a:pPr>
            <a:r>
              <a:t>•  Laboratoire ou examen</a:t>
            </a:r>
          </a:p>
          <a:p>
            <a:pPr>
              <a:spcAft>
                <a:spcPts val="1300"/>
              </a:spcAft>
              <a:defRPr sz="1800">
                <a:solidFill>
                  <a:srgbClr val="14221C"/>
                </a:solidFill>
                <a:latin typeface="Aptos"/>
              </a:defRPr>
            </a:pPr>
            <a:r>
              <a:t>•  Résultat et recommandation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51663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7836"/>
                </a:solidFill>
                <a:latin typeface="Aptos"/>
              </a:rPr>
              <a:t>Vidéo de démonstration déjà disponible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75C44"/>
                </a:solidFill>
                <a:latin typeface="Aptos"/>
              </a:rPr>
              <a:t>EDULAB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21C"/>
                </a:solidFill>
                <a:latin typeface="Aptos"/>
              </a:rPr>
              <a:t>Impact attendu et modèle économique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736D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Impact apprenant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26080" cy="1216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Compréhension, autonomie et entraînement régulier.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0876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Impact enseignant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926080" cy="1216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Visibilité sur les difficultés et complément de suivi.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0876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5C44"/>
                </a:solidFill>
                <a:latin typeface="Aptos"/>
              </a:rPr>
              <a:t>Impact système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926080" cy="1216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Ressources structurées et accès numérique progressif.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97836"/>
                </a:solidFill>
                <a:latin typeface="Aptos"/>
              </a:rPr>
              <a:t>Freemium individuel  •  Abonnement avancé  •  Licences établissements  •  Partenariats institutionnels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75C44"/>
                </a:solidFill>
                <a:latin typeface="Aptos"/>
              </a:rPr>
              <a:t>EDULAB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4221C"/>
                </a:solidFill>
                <a:latin typeface="Aptos"/>
              </a:rPr>
              <a:t>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736D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21C"/>
                </a:solidFill>
                <a:latin typeface="Aptos"/>
              </a:defRPr>
            </a:pPr>
            <a:r>
              <a:t>•  Valider les contenus prioritaires avec des enseignants.</a:t>
            </a:r>
          </a:p>
          <a:p>
            <a:pPr>
              <a:spcAft>
                <a:spcPts val="1300"/>
              </a:spcAft>
              <a:defRPr sz="2000">
                <a:solidFill>
                  <a:srgbClr val="14221C"/>
                </a:solidFill>
                <a:latin typeface="Aptos"/>
              </a:defRPr>
            </a:pPr>
            <a:r>
              <a:t>•  Élargir le jeu d’évaluation RAG et scientifique.</a:t>
            </a:r>
          </a:p>
          <a:p>
            <a:pPr>
              <a:spcAft>
                <a:spcPts val="1300"/>
              </a:spcAft>
              <a:defRPr sz="2000">
                <a:solidFill>
                  <a:srgbClr val="14221C"/>
                </a:solidFill>
                <a:latin typeface="Aptos"/>
              </a:defRPr>
            </a:pPr>
            <a:r>
              <a:t>•  Lancer un pilote encadré avec consentement.</a:t>
            </a:r>
          </a:p>
          <a:p>
            <a:pPr>
              <a:spcAft>
                <a:spcPts val="1300"/>
              </a:spcAft>
              <a:defRPr sz="2000">
                <a:solidFill>
                  <a:srgbClr val="14221C"/>
                </a:solidFill>
                <a:latin typeface="Aptos"/>
              </a:defRPr>
            </a:pPr>
            <a:r>
              <a:t>•  Optimiser le mode faible connexion et le coût IA.</a:t>
            </a:r>
          </a:p>
          <a:p>
            <a:pPr>
              <a:spcAft>
                <a:spcPts val="1300"/>
              </a:spcAft>
              <a:defRPr sz="2000">
                <a:solidFill>
                  <a:srgbClr val="14221C"/>
                </a:solidFill>
                <a:latin typeface="Aptos"/>
              </a:defRPr>
            </a:pPr>
            <a:r>
              <a:t>•  Mesurer l’impact pédagogique avant généralisation.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554480"/>
            <a:ext cx="33832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7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73736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97836"/>
                </a:solidFill>
                <a:latin typeface="Aptos"/>
              </a:rPr>
              <a:t>Notre ambition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148840"/>
            <a:ext cx="2926080" cy="2359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6736D"/>
                </a:solidFill>
                <a:latin typeface="Aptos"/>
              </a:rPr>
              <a:t>Faire d’EduLab AI un complément pédagogique crédible, accessible et adapté au contexte ivoirien.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4300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Merci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965960"/>
            <a:ext cx="9966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DDE9E0"/>
                </a:solidFill>
                <a:latin typeface="Aptos"/>
              </a:rPr>
              <a:t>EduLab AI — apprendre, pratiquer et progresser avec un accompagnement contextualisé.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5196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99A6F"/>
                </a:solidFill>
                <a:latin typeface="Aptos"/>
              </a:rPr>
              <a:t>Questions / Démonstration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